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Low-Code та n8n: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Ваша нова суперсила (без жодного рядка коду)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937"/>
                </a:solidFill>
              </a:defRPr>
            </a:pPr>
            <a:r>
              <a:t>Вам це знайомо?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374151"/>
                </a:solidFill>
              </a:defRPr>
            </a:pPr>
            <a:r>
              <a:t>✓ Копіювати дані з сайту в Google Таблицю?</a:t>
            </a:r>
          </a:p>
          <a:p>
            <a:pPr>
              <a:spcAft>
                <a:spcPts val="1500"/>
              </a:spcAft>
              <a:defRPr sz="2000">
                <a:solidFill>
                  <a:srgbClr val="374151"/>
                </a:solidFill>
              </a:defRPr>
            </a:pPr>
            <a:r>
              <a:t>✓ Вручну перевіряти пошту кожні 15 хвилин?</a:t>
            </a:r>
          </a:p>
          <a:p>
            <a:pPr>
              <a:spcAft>
                <a:spcPts val="1500"/>
              </a:spcAft>
              <a:defRPr sz="2000">
                <a:solidFill>
                  <a:srgbClr val="374151"/>
                </a:solidFill>
              </a:defRPr>
            </a:pPr>
            <a:r>
              <a:t>✓ Губити дедлайни, що прийшли на email?</a:t>
            </a:r>
          </a:p>
          <a:p>
            <a:pPr>
              <a:spcAft>
                <a:spcPts val="1500"/>
              </a:spcAft>
              <a:defRPr sz="2000">
                <a:solidFill>
                  <a:srgbClr val="374151"/>
                </a:solidFill>
              </a:defRPr>
            </a:pPr>
            <a:r>
              <a:t>✓ Робити ту саму монотонну дію знову і знову?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2626"/>
                </a:solidFill>
              </a:defRPr>
            </a:pPr>
            <a:r>
              <a:t>Це називається... Рутина.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2937"/>
                </a:solidFill>
              </a:defRPr>
            </a:pPr>
            <a:r>
              <a:t>Що таке Low-Code / No-Code?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B7280"/>
                </a:solidFill>
              </a:defRPr>
            </a:pPr>
            <a:r>
              <a:t>Уявіть, що ви будуєте будинок: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256032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t>High-Code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Ви самі виготовляєте кожну цеглину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B7280"/>
                </a:solidFill>
              </a:defRPr>
            </a:pPr>
            <a:r>
              <a:t>Потрібні роки навчання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286000"/>
            <a:ext cx="256032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C55E"/>
                </a:solidFill>
              </a:defRPr>
            </a:pPr>
            <a:r>
              <a:t>No-Code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0175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Ви збираєте будинок з готових блоків LEGO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4805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B7280"/>
                </a:solidFill>
              </a:defRPr>
            </a:pPr>
            <a:r>
              <a:t>Швидко і просто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286000"/>
            <a:ext cx="256032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855F7"/>
                </a:solidFill>
              </a:defRPr>
            </a:pPr>
            <a:r>
              <a:t>Low-Code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0175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LEGO + пластилін для унікальних деталей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4805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B7280"/>
                </a:solidFill>
              </a:defRPr>
            </a:pPr>
            <a:r>
              <a:t>Гнучкість + простота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6692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7E22CE"/>
                </a:solidFill>
              </a:defRPr>
            </a:pPr>
            <a:r>
              <a:t>n8n — це ваш набір LEGO та пластиліну для автоматизацій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F2937"/>
                </a:solidFill>
              </a:defRPr>
            </a:pPr>
            <a:r>
              <a:t>Приклад 1: "Розумний список завдань"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ТРИГЕР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n8n перевіряє Gmail кожні 30 хв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457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583179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4620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7316"/>
                </a:solidFill>
              </a:defRPr>
            </a:pPr>
            <a:r>
              <a:t>ЛОГІКА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4620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Якщо лист від викладача містить 'дедлайн'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59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599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ДІЯ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599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Створити завдання в Trello/Notion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653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5140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26579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ДІЯ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6579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Створити подію в Google Календарі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solidFill>
            <a:srgbClr val="DBEAFE"/>
          </a:solidFill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✓ Результат: Ви ніколи не пропустите дедлайн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F2937"/>
                </a:solidFill>
              </a:defRPr>
            </a:pPr>
            <a:r>
              <a:t>Приклад 2: "Куратор контенту"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ТРИГЕР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Кожного ранку о 9:00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457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583179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4620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7316"/>
                </a:solidFill>
              </a:defRPr>
            </a:pPr>
            <a:r>
              <a:t>ДІЯ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4620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Прочитати нові статті з RSS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59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599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ДІЯ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599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AI вибирає 3 найкращі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653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5140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26579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ДІЯ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6579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Надіслати на Email/Slack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solidFill>
            <a:srgbClr val="DBEAFE"/>
          </a:solidFill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✓ Результат: Година роботи → 5 хвилин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F2937"/>
                </a:solidFill>
              </a:defRPr>
            </a:pPr>
            <a:r>
              <a:t>Приклад 3: "Збір відгуків"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ТРИГЕР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Заповнено Google Форму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457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583179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4620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7316"/>
                </a:solidFill>
              </a:defRPr>
            </a:pPr>
            <a:r>
              <a:t>ДІЯ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4620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Записати в Google Таблицю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59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599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ДІЯ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599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AI аналізує: позитивний/негативний?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653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5140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26579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ЛОГІКА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6579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Якщо негативний → 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solidFill>
            <a:srgbClr val="DBEAFE"/>
          </a:solidFill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✓ Результат: Миттєва реакція на проблеми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F2937"/>
                </a:solidFill>
              </a:defRPr>
            </a:pPr>
            <a:r>
              <a:t>Приклад 4: "Моніторинг вакансій"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ТРИГЕР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Кожні 4 години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457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583179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4620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7316"/>
                </a:solidFill>
              </a:defRPr>
            </a:pPr>
            <a:r>
              <a:t>ДІЯ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4620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Перевірити RSS Work.ua, DOU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59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599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ЛОГІКА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599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Якщо є Junior/Intern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653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5140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26579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ДІЯ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6579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Додати в Google Таблицю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solidFill>
            <a:srgbClr val="DBEAFE"/>
          </a:solidFill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✓ Результат: Ваша особиста дошка вакансій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F2937"/>
                </a:solidFill>
              </a:defRPr>
            </a:pPr>
            <a:r>
              <a:t>Приклад 5: "Синхронізація Notion/Календаря"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ТРИГЕР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Кожну годину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457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583179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4620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7316"/>
                </a:solidFill>
              </a:defRPr>
            </a:pPr>
            <a:r>
              <a:t>ЛОГІКА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4620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Новий запис з датою дедлайну?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59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599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ДІЯ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599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Взяти назву та дату з Notion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653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5140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26579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ДІЯ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6579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Створити подію в Календарі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solidFill>
            <a:srgbClr val="DBEAFE"/>
          </a:solidFill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✓ Результат: Календар = ваші плани в Notion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F2937"/>
                </a:solidFill>
              </a:defRPr>
            </a:pPr>
            <a:r>
              <a:t>Приклад 6: "Авто-'Список для читання'"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ТРИГЕР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Поставили зірочку листу в Gmail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457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583179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4620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7316"/>
                </a:solidFill>
              </a:defRPr>
            </a:pPr>
            <a:r>
              <a:t>ДІЯ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4620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Взяти посилання з листа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59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599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ДІЯ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599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AI створює короткий підсумок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653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5140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26579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ДІЯ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6579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Зберегти в Notion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solidFill>
            <a:srgbClr val="DBEAFE"/>
          </a:solidFill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✓ Результат: База знань, а не звалище посилань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F2937"/>
                </a:solidFill>
              </a:defRPr>
            </a:pPr>
            <a:r>
              <a:t>Приклад 7: "Трекер згадок у соцмережах"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ТРИГЕР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Кожні 6 годин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457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583179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4620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7316"/>
                </a:solidFill>
              </a:defRPr>
            </a:pPr>
            <a:r>
              <a:t>ДІЯ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4620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Шукати на Reddit ваш проєкт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59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599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ЛОГІКА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599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Знайдено новий пост?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653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5140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26579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ДІЯ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6579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Надіслати в Discord/Slack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solidFill>
            <a:srgbClr val="DBEAFE"/>
          </a:solidFill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✓ Результат: Миттєва реакція на згадки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F2937"/>
                </a:solidFill>
              </a:defRPr>
            </a:pPr>
            <a:r>
              <a:t>Приклад 8: "Ранковий бриф"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ТРИГЕР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Кожен день о 7:00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457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583179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4620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7316"/>
                </a:solidFill>
              </a:defRPr>
            </a:pPr>
            <a:r>
              <a:t>ДІЯ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4620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Взяти прогноз погоди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59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599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ДІЯ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599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Взяти події з Календаря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6539" y="2926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5140" y="1828800"/>
            <a:ext cx="18516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26579" y="2011680"/>
            <a:ext cx="16687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ДІЯ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6579" y="2468880"/>
            <a:ext cx="1668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Надіслати один 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solidFill>
            <a:srgbClr val="DBEAFE"/>
          </a:solidFill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✓ Результат: Один лист з планом на день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F2937"/>
                </a:solidFill>
              </a:defRPr>
            </a:pPr>
            <a:r>
              <a:t>API - Application Programming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Аналогія: Офіціант у ресторані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182880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Ви (n8n)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B5563"/>
                </a:solidFill>
              </a:defRPr>
            </a:pPr>
            <a:r>
              <a:t>Не йдете на кухню (в базу даних Google)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2286000"/>
            <a:ext cx="182880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24688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👨‍💼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30175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Офіціант (API)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56616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B5563"/>
                </a:solidFill>
              </a:defRPr>
            </a:pPr>
            <a:r>
              <a:t>Ви кличете офіціанта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286000"/>
            <a:ext cx="182880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4688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0175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Чітке замовлення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56616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B5563"/>
                </a:solidFill>
              </a:defRPr>
            </a:pPr>
            <a:r>
              <a:t>Даєте замовлення 'Отримати мої події'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2286000"/>
            <a:ext cx="182880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4688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🍽️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0175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Готова страва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56616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B5563"/>
                </a:solidFill>
              </a:defRPr>
            </a:pPr>
            <a:r>
              <a:t>Офіціант приносить готові дані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F2937"/>
                </a:solidFill>
              </a:defRPr>
            </a:pPr>
            <a:r>
              <a:t>JSON - JavaScript Object 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B7280"/>
                </a:solidFill>
              </a:defRPr>
            </a:pPr>
            <a:r>
              <a:t>Аналогія: Структурований список покупок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B5563"/>
                </a:solidFill>
              </a:defRPr>
            </a:pPr>
            <a:r>
              <a:t>Це мова, якою ви 'пишете замовлення' для офіціанта (API).</a:t>
            </a:r>
          </a:p>
          <a:p/>
          <a:p>
            <a:r>
              <a:t>Чітка структура:</a:t>
            </a:r>
          </a:p>
          <a:p>
            <a:r>
              <a:t>"ключ": "значення"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011680"/>
            <a:ext cx="4114800" cy="3200400"/>
          </a:xfrm>
          <a:prstGeom prst="roundRect">
            <a:avLst/>
          </a:prstGeom>
          <a:solidFill>
            <a:srgbClr val="1E1E2E"/>
          </a:solidFill>
          <a:ln>
            <a:solidFill>
              <a:srgbClr val="64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2286000"/>
            <a:ext cx="35661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6E3A1"/>
                </a:solidFill>
                <a:latin typeface="Courier New"/>
              </a:defRPr>
            </a:pPr>
            <a:r>
              <a:t>[</a:t>
            </a:r>
          </a:p>
          <a:p>
            <a:r>
              <a:t>  {</a:t>
            </a:r>
          </a:p>
          <a:p>
            <a:r>
              <a:t>    "категорія": "Молочні",</a:t>
            </a:r>
          </a:p>
          <a:p>
            <a:r>
              <a:t>    "продукт": "Молоко",</a:t>
            </a:r>
          </a:p>
          <a:p>
            <a:r>
              <a:t>    "кількість": 1</a:t>
            </a:r>
          </a:p>
          <a:p>
            <a:r>
              <a:t>  },</a:t>
            </a:r>
          </a:p>
          <a:p>
            <a:r>
              <a:t>  ...</a:t>
            </a:r>
          </a:p>
          <a:p>
            <a:r>
              <a:t>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2937"/>
                </a:solidFill>
              </a:defRPr>
            </a:pPr>
            <a:r>
              <a:t>JSON: Вкладені дані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B5563"/>
                </a:solidFill>
              </a:defRPr>
            </a:pPr>
            <a:r>
              <a:t>Аналогія: Рецепт</a:t>
            </a:r>
          </a:p>
          <a:p>
            <a:r>
              <a:t>(Об'єкт + Список)</a:t>
            </a:r>
          </a:p>
          <a:p/>
          <a:p>
            <a:r>
              <a:t>{ } = Об'єкт (один рецепт)</a:t>
            </a:r>
          </a:p>
          <a:p>
            <a:r>
              <a:t>[ ] = Список (інгредієнтів)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371600"/>
            <a:ext cx="4114800" cy="4114800"/>
          </a:xfrm>
          <a:prstGeom prst="roundRect">
            <a:avLst/>
          </a:prstGeom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0" y="1645920"/>
            <a:ext cx="35661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6E3A1"/>
                </a:solidFill>
                <a:latin typeface="Courier New"/>
              </a:defRPr>
            </a:pPr>
            <a:r>
              <a:t>{</a:t>
            </a:r>
          </a:p>
          <a:p>
            <a:r>
              <a:t>  "назва": "Омлет",</a:t>
            </a:r>
          </a:p>
          <a:p>
            <a:r>
              <a:t>  "інгредієнти": [</a:t>
            </a:r>
          </a:p>
          <a:p>
            <a:r>
              <a:t>    {</a:t>
            </a:r>
          </a:p>
          <a:p>
            <a:r>
              <a:t>      "назва": "Яйця",</a:t>
            </a:r>
          </a:p>
          <a:p>
            <a:r>
              <a:t>      "кількість": 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"назва": "Молоко",</a:t>
            </a:r>
          </a:p>
          <a:p>
            <a:r>
              <a:t>      "кількість": 50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</a:defRPr>
            </a:pPr>
            <a:r>
              <a:t>Аналогія: Пошта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4114800" cy="2743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📧 Один Елемент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3749039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✓ Gmail знайшла 1 лист</a:t>
            </a:r>
          </a:p>
          <a:p/>
          <a:p>
            <a:r>
              <a:t>→ Передає 1 конверт</a:t>
            </a:r>
          </a:p>
          <a:p/>
          <a:p>
            <a:r>
              <a:t>→ Наступна нода спрацює 1 РАЗ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828800"/>
            <a:ext cx="4114800" cy="2743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201168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97316"/>
                </a:solidFill>
              </a:defRPr>
            </a:pPr>
            <a:r>
              <a:t>📚 Список Елементів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651760"/>
            <a:ext cx="3749039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✓ Google Sheets знайшла 10 рядків</a:t>
            </a:r>
          </a:p>
          <a:p/>
          <a:p>
            <a:r>
              <a:t>→ Передає стос з 10 конвертів</a:t>
            </a:r>
          </a:p>
          <a:p/>
          <a:p>
            <a:r>
              <a:t>→ Наступна нода спрацює 10 РАЗІВ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7E22CE"/>
                </a:solidFill>
              </a:defRPr>
            </a:pPr>
            <a:r>
              <a:t>💡 Ключове правило: Кількість елементів = Кількість виконань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</a:defRPr>
            </a:pPr>
            <a:r>
              <a:t>WEBHOOK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B7280"/>
                </a:solidFill>
              </a:defRPr>
            </a:pPr>
            <a:r>
              <a:t>Аналогія: Дверний дзвінок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657600" cy="2743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97316"/>
                </a:solidFill>
              </a:defRPr>
            </a:pPr>
            <a:r>
              <a:t>📞 Звичайний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32918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Ви кожні 5 хвилин дзвоните в піцерію:</a:t>
            </a:r>
          </a:p>
          <a:p/>
          <a:p>
            <a:r>
              <a:t>'Моя піца готова? А зараз?'</a:t>
            </a:r>
          </a:p>
          <a:p/>
          <a:p>
            <a:r>
              <a:t>⚠️ Постійні перевірки, марнування часу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286000"/>
            <a:ext cx="3657600" cy="2743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24688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C55E"/>
                </a:solidFill>
              </a:defRPr>
            </a:pPr>
            <a:r>
              <a:t>🔔 Webhook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3017520"/>
            <a:ext cx="32918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Ви кажете:</a:t>
            </a:r>
          </a:p>
          <a:p/>
          <a:p>
            <a:r>
              <a:t>'Ось номер мого дзвінка. Подзвоніть, коли буде готово'</a:t>
            </a:r>
          </a:p>
          <a:p/>
          <a:p>
            <a:r>
              <a:t>✓ Очікування на сповіщення, ефективно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48640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Webhook — це URL, який чекає на дані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</a:defRPr>
            </a:pPr>
            <a:r>
              <a:t>🔑 API Токен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74151"/>
                </a:solidFill>
              </a:defRPr>
            </a:pPr>
            <a:r>
              <a:t>👨‍💼 Офіціант (API) має знати, хто ви</a:t>
            </a:r>
          </a:p>
          <a:p>
            <a:pPr>
              <a:spcAft>
                <a:spcPts val="1000"/>
              </a:spcAft>
              <a:defRPr sz="1800">
                <a:solidFill>
                  <a:srgbClr val="374151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74151"/>
                </a:solidFill>
              </a:defRPr>
            </a:pPr>
            <a:r>
              <a:t>🆔 Токен (довгий рядок) — це ваш доказ: 'Я — це я'</a:t>
            </a:r>
          </a:p>
          <a:p>
            <a:pPr>
              <a:spcAft>
                <a:spcPts val="1000"/>
              </a:spcAft>
              <a:defRPr sz="1800">
                <a:solidFill>
                  <a:srgbClr val="374151"/>
                </a:solidFill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DC2626"/>
                </a:solidFill>
              </a:defRPr>
            </a:pPr>
            <a:r>
              <a:t>🔒 Це ваш секретний пароль!</a:t>
            </a:r>
          </a:p>
          <a:p>
            <a:pPr>
              <a:spcAft>
                <a:spcPts val="1000"/>
              </a:spcAft>
              <a:defRPr sz="1800" b="1">
                <a:solidFill>
                  <a:srgbClr val="DC2626"/>
                </a:solidFill>
              </a:defRPr>
            </a:pPr>
            <a:r>
              <a:t>❗️ Нікому не показуйте ❗️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0" y="2286000"/>
            <a:ext cx="3383280" cy="2743200"/>
          </a:xfrm>
          <a:prstGeom prst="roundRect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0" y="2468880"/>
            <a:ext cx="3383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3383280"/>
            <a:ext cx="3017520" cy="13716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0" y="352044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Courier New"/>
              </a:defRPr>
            </a:pPr>
            <a:r>
              <a:t>eyJhbGciOiJIUzI1NiIsInR5cCI6IkpXVCJ9.eyJzdWIiOiIxMjM...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</a:defRPr>
            </a:pPr>
            <a:r>
              <a:t>🌐 HTTP Запити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B7280"/>
                </a:solidFill>
              </a:defRPr>
            </a:pPr>
            <a:r>
              <a:t>Аналогія: Тип вашого замовлення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6576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2C55E"/>
                </a:solidFill>
              </a:defRPr>
            </a:pPr>
            <a:r>
              <a:t>⬇️ 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Отримати</a:t>
            </a:r>
          </a:p>
          <a:p>
            <a:r>
              <a:t>'Дай мені мої листи'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286000"/>
            <a:ext cx="36576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24688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➕ 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301752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Створити</a:t>
            </a:r>
          </a:p>
          <a:p>
            <a:r>
              <a:t>'Візьми це і створи новий пост'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89120"/>
            <a:ext cx="36576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97316"/>
                </a:solidFill>
              </a:defRPr>
            </a:pPr>
            <a:r>
              <a:t>✏️ 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12064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Оновити</a:t>
            </a:r>
          </a:p>
          <a:p>
            <a:r>
              <a:t>'Зміни назву цієї події'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389120"/>
            <a:ext cx="36576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45720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F4444"/>
                </a:solidFill>
              </a:defRPr>
            </a:pPr>
            <a:r>
              <a:t>🗑️ DELETE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512064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Видалити</a:t>
            </a:r>
          </a:p>
          <a:p>
            <a:r>
              <a:t>'Видали цей файл'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2937"/>
                </a:solidFill>
              </a:defRPr>
            </a:pPr>
            <a:r>
              <a:t>Базові блоки (Ноди) в n8n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56032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🔴 Тригери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20116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500">
                <a:solidFill>
                  <a:srgbClr val="374151"/>
                </a:solidFill>
              </a:defRPr>
            </a:pPr>
            <a:r>
              <a:t>👆 Manual (Start)</a:t>
            </a:r>
          </a:p>
          <a:p>
            <a:pPr>
              <a:spcAft>
                <a:spcPts val="1500"/>
              </a:spcAft>
              <a:defRPr sz="1500">
                <a:solidFill>
                  <a:srgbClr val="374151"/>
                </a:solidFill>
              </a:defRPr>
            </a:pPr>
            <a:r>
              <a:t>⏰ Schedule (Cron)</a:t>
            </a:r>
          </a:p>
          <a:p>
            <a:pPr>
              <a:spcAft>
                <a:spcPts val="1500"/>
              </a:spcAft>
              <a:defRPr sz="1500">
                <a:solidFill>
                  <a:srgbClr val="374151"/>
                </a:solidFill>
              </a:defRPr>
            </a:pPr>
            <a:r>
              <a:t>🌐 Webhook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56032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0116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97316"/>
                </a:solidFill>
              </a:defRPr>
            </a:pPr>
            <a:r>
              <a:t>🧠 Логіка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743200"/>
            <a:ext cx="20116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500">
                <a:solidFill>
                  <a:srgbClr val="374151"/>
                </a:solidFill>
              </a:defRPr>
            </a:pPr>
            <a:r>
              <a:t>❓ IF (Якщо)</a:t>
            </a:r>
          </a:p>
          <a:p>
            <a:pPr>
              <a:spcAft>
                <a:spcPts val="1500"/>
              </a:spcAft>
              <a:defRPr sz="1500">
                <a:solidFill>
                  <a:srgbClr val="374151"/>
                </a:solidFill>
              </a:defRPr>
            </a:pPr>
            <a:r>
              <a:t>🔀 Switch (Вибір)</a:t>
            </a:r>
          </a:p>
          <a:p>
            <a:pPr>
              <a:spcAft>
                <a:spcPts val="1500"/>
              </a:spcAft>
              <a:defRPr sz="1500">
                <a:solidFill>
                  <a:srgbClr val="374151"/>
                </a:solidFill>
              </a:defRPr>
            </a:pPr>
            <a:r>
              <a:t>✏️ Set (Змінити дані)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56032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✅ Дії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43200"/>
            <a:ext cx="20116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500">
                <a:solidFill>
                  <a:srgbClr val="374151"/>
                </a:solidFill>
              </a:defRPr>
            </a:pPr>
            <a:r>
              <a:t>📊 Google Sheets</a:t>
            </a:r>
          </a:p>
          <a:p>
            <a:pPr>
              <a:spcAft>
                <a:spcPts val="1500"/>
              </a:spcAft>
              <a:defRPr sz="1500">
                <a:solidFill>
                  <a:srgbClr val="374151"/>
                </a:solidFill>
              </a:defRPr>
            </a:pPr>
            <a:r>
              <a:t>📧 Gmail / Email</a:t>
            </a:r>
          </a:p>
          <a:p>
            <a:pPr>
              <a:spcAft>
                <a:spcPts val="1500"/>
              </a:spcAft>
              <a:defRPr sz="1500">
                <a:solidFill>
                  <a:srgbClr val="374151"/>
                </a:solidFill>
              </a:defRPr>
            </a:pPr>
            <a:r>
              <a:t>🌐 HTTP Request</a:t>
            </a:r>
          </a:p>
          <a:p>
            <a:pPr>
              <a:spcAft>
                <a:spcPts val="1500"/>
              </a:spcAft>
              <a:defRPr sz="1500">
                <a:solidFill>
                  <a:srgbClr val="374151"/>
                </a:solidFill>
              </a:defRPr>
            </a:pPr>
            <a:r>
              <a:t>🤖 OpenAI (AI)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2937"/>
                </a:solidFill>
              </a:defRPr>
            </a:pPr>
            <a:r>
              <a:t>Популярні ноди n8n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9319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🌐 HTTP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Виконує запити до будь-якого API. Підтримує GET, POST, PUT, DELETE з аутентифікацією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371600"/>
            <a:ext cx="39319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508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🔔 Webhook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9202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Приймає дані в реальному часі. Створює унікальний URL для кожного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39319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💻 Code (JavaScript)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Виконує JavaScript код для обробки даних. Повний доступ до ES6+ та бібліотек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926080"/>
            <a:ext cx="39319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3063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BBF24"/>
                </a:solidFill>
              </a:defRPr>
            </a:pPr>
            <a:r>
              <a:t>❓ IF 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4747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Розгалужує workflow на основі умов. Підтримує порівняння, regex, AND/OR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80560"/>
            <a:ext cx="39319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⏰ Schedule 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Запускає workflow автоматично: щохвилини, щогодини, за cron-розкладом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4480560"/>
            <a:ext cx="39319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617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📧 Gmail Node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50292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Автоматизація пошти: відправка, отримання, пошук, фільтрація, вкладення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7E22CE"/>
                </a:solidFill>
              </a:defRPr>
            </a:pPr>
            <a:r>
              <a:t>💡 Ви тепер теж можете 'кодувати'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✓ Вам не потрібно бути програмістом, щоб бути 'будівельником'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✓ Ви можете з'єднувати інструменти, якими вже користуєтесь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✓ Ви розумієте 'мову' спілкування сервісів (API та JSON)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✓ Ви розумієте різницю між ОДНИМ елементом та СПИСКОМ!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2937"/>
                </a:solidFill>
              </a:defRPr>
            </a:pPr>
            <a:r>
              <a:t>Що ви автоматизуєте в першу чергу?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943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EF4444"/>
                </a:solidFill>
              </a:defRPr>
            </a:pPr>
            <a:r>
              <a:t>📺 Корисні YouTube канали про n8n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B7280"/>
                </a:solidFill>
              </a:defRPr>
            </a:pPr>
            <a:r>
              <a:t>Відскануйте QR-код щоб підписатись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286000"/>
            <a:ext cx="32004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0" y="2560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Roger Roger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31089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Практичні приклади автоматизації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286000"/>
            <a:ext cx="32004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560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Kodarik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1089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Туторіали та кейси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389120"/>
            <a:ext cx="32004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4663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Nate Herk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52120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Глибокі dive в n8n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4389120"/>
            <a:ext cx="32004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4663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Creator Magic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52120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AI + автоматизація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Дякую!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8C8C8"/>
                </a:solidFill>
              </a:defRPr>
            </a:pPr>
            <a:r>
              <a:t>Запитання?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5029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💬  ❓  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